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B5NzhJjNyVQns7i8Bncz77G/t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Community gap score</c:v>
                </c:pt>
              </c:strCache>
            </c:strRef>
          </c:tx>
          <c:spPr>
            <a:solidFill>
              <a:srgbClr val="F5B8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9ED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Al Bateen</c:v>
                  </c:pt>
                  <c:pt idx="1">
                    <c:v>Al Reef</c:v>
                  </c:pt>
                  <c:pt idx="2">
                    <c:v>Mussafah</c:v>
                  </c:pt>
                  <c:pt idx="3">
                    <c:v>Al Reem Is.</c:v>
                  </c:pt>
                  <c:pt idx="4">
                    <c:v>Yas Island</c:v>
                  </c:pt>
                  <c:pt idx="5">
                    <c:v>Khalifa City</c:v>
                  </c:pt>
                  <c:pt idx="6">
                    <c:v>Al Raha Beach</c:v>
                  </c:pt>
                  <c:pt idx="7">
                    <c:v>Al Ghadeer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46</c:v>
                </c:pt>
                <c:pt idx="2">
                  <c:v>47</c:v>
                </c:pt>
                <c:pt idx="3">
                  <c:v>48</c:v>
                </c:pt>
                <c:pt idx="4">
                  <c:v>49</c:v>
                </c:pt>
                <c:pt idx="5">
                  <c:v>49</c:v>
                </c:pt>
                <c:pt idx="6">
                  <c:v>53</c:v>
                </c:pt>
                <c:pt idx="7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E9ED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C7D0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6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7"/>
        </a:solidFill>
        <a:ln>
          <a:noFill/>
        </a:ln>
        <a:effectLst/>
      </c:spPr>
    </c:plotArea>
    <c:plotVisOnly val="1"/>
    <c:dispBlanksAs val="span"/>
  </c:chart>
  <c:spPr>
    <a:solidFill>
      <a:srgbClr val="0A0E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here. One line: "Deciding which Abu Dhabi district needs a school, clinic or transit is a high-stakes call — and today it's mostly guesswork." Then say what we built: a copilot that scores every district on need vs. real amenity coverage, explains why, and tells you how much to trust it. Don't read the pills — point and move 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pains, 20 seconds: budgets follow whoever shouts loudest; black-box AI scores nobody can defend; and every recommendation looks equally confident even when signals disagree. Land the bottom line: the real question is where need outpaces coverage — and how sure we can be.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four pillars in one breath. Key phrase: 'scores computed in Python, never in the UI.' That separation is what makes the whole thing trustworthy — set it up here, pay it off on the next slide.</a:t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architecture money slide. Deterministic Python pipeline owns every number — load, aggregate, score, confidence, evidence, export. The AI and dashboard only read the JSON. Say it out loud: 'same inputs always produce the same outputs.' The AI literally cannot recalculate or re-rank.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Credibility slide. ~15,000 real rows. Three CORE datasets drive the gap score; supporting data is context only and can't hijack the rank. Note OSM is real ground-truth amenities, and every file joins cleanly to the 20-district master.</a:t>
            </a:r>
            <a:endParaRPr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Methodology. Gap score = 55% need + 35% shortage + 10% market. Hammer 'need + shortage = 90%' so market hype can't quietly move the rank. Don't read every input — point to the right column and say 'every score decomposes into auditable parts.'</a:t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differentiator — slow down. Confidence is NOT a softmax probability. We count how many of 8 independent signals agree there's a gap: 6-8 High, 3-5 Medium, 0-2 Low. And the guardrail: sparse data is capped at Medium, so thin data never reads as certainty.</a:t>
            </a:r>
            <a:endParaRPr/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safety in 20 seconds. The LLM gets structured evidence and returns six JSON fields — it's told: don't invent, don't recalculate, don't change confidence, don't claim live data. And if the model is down, a Python fallback builds the same answer. The demo never fabricates a number, even offline.</a:t>
            </a:r>
            <a:endParaRPr/>
          </a:p>
        </p:txBody>
      </p:sp>
      <p:sp>
        <p:nvSpPr>
          <p:cNvPr id="304" name="Google Shape;3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Results. Al Ghadeer tops the list — high need meeting the weakest amenity coverage, 0 OSM schools vs. a city median of 10. Point out most districts are Low: the copilot deliberately doesn't over-flag. Only 3 of 20 earn High confidence.</a:t>
            </a:r>
            <a:endParaRPr/>
          </a:p>
        </p:txBody>
      </p:sp>
      <p:sp>
        <p:nvSpPr>
          <p:cNvPr id="348" name="Google Shape;3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aha moment. Same engine, three honest answers: Act on Al Ghadeer, Validate Al Raha Beach (mixed signals), Monitor Al Khalidiyah (0 of 8 signals fire). A tool that says 'don't act here' is more trustworthy than one that flags everything. This is the demo to walk live if you have a screen.</a:t>
            </a:r>
            <a:endParaRPr/>
          </a:p>
        </p:txBody>
      </p:sp>
      <p:sp>
        <p:nvSpPr>
          <p:cNvPr id="376" name="Google Shape;37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we'd win on trust. Decomposed scores, evidence bullets tied to measurable comparisons, explicit uncertainty, a completeness check, core-vs-supporting discipline, and a single source of truth. The honesty IS the product — say that line.</a:t>
            </a:r>
            <a:endParaRPr/>
          </a:p>
        </p:txBody>
      </p:sp>
      <p:sp>
        <p:nvSpPr>
          <p:cNvPr id="415" name="Google Shape;4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Vision. The JSON contract is already clean — swap static CSVs for live OSM/permits/mobility feeds and the same deterministic-core, AI-on-top design scales. Generalises to other tracks and emirates. Close with the bold line: where to build, why, and how confident to be.</a:t>
            </a:r>
            <a:endParaRPr/>
          </a:p>
        </p:txBody>
      </p:sp>
      <p:sp>
        <p:nvSpPr>
          <p:cNvPr id="457" name="Google Shape;45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in one sentence: 'Today we built a copilot that scores 20 districts on real evidence and is honest about when it isn't sure — with live data, it becomes Abu Dhabi's planning intelligence layer. Thank you.' Q&amp;A ready: what's new today, what 100x data does, why AI over rules, who the first user is.</a:t>
            </a:r>
            <a:endParaRPr/>
          </a:p>
        </p:txBody>
      </p:sp>
      <p:sp>
        <p:nvSpPr>
          <p:cNvPr id="493" name="Google Shape;4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10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644385" y="-1481315"/>
            <a:ext cx="6400800" cy="6400800"/>
          </a:xfrm>
          <a:prstGeom prst="ellipse">
            <a:avLst/>
          </a:prstGeom>
          <a:solidFill>
            <a:srgbClr val="1A160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011680" y="3657600"/>
            <a:ext cx="5943600" cy="5943600"/>
          </a:xfrm>
          <a:prstGeom prst="ellipse">
            <a:avLst/>
          </a:prstGeom>
          <a:solidFill>
            <a:srgbClr val="06201E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713232"/>
            <a:ext cx="3703320" cy="384048"/>
          </a:xfrm>
          <a:prstGeom prst="roundRect">
            <a:avLst>
              <a:gd fmla="val 50000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24128" y="850392"/>
            <a:ext cx="109728" cy="109728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207008" y="71323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9EDF6"/>
                </a:solidFill>
                <a:latin typeface="Arial"/>
                <a:ea typeface="Arial"/>
                <a:cs typeface="Arial"/>
                <a:sym typeface="Arial"/>
              </a:rPr>
              <a:t>ABU DHABI AI PROPTECH CHALLENGE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645152" y="713232"/>
            <a:ext cx="2057400" cy="384048"/>
          </a:xfrm>
          <a:prstGeom prst="roundRect">
            <a:avLst>
              <a:gd fmla="val 50000" name="adj"/>
            </a:avLst>
          </a:prstGeom>
          <a:solidFill>
            <a:srgbClr val="211B0D"/>
          </a:solidFill>
          <a:ln cap="flat" cmpd="sng" w="12700">
            <a:solidFill>
              <a:srgbClr val="E0A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645152" y="71323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Future Communities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7240" y="155448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Community Gap &amp;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7240" y="2395728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Confidence Copilot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2960" y="3456432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Which district needs intervention, what is missing, why we believe it 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and how much a decision-maker should trust the recommendation.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4498848"/>
            <a:ext cx="2353666" cy="420624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87552" y="4645152"/>
            <a:ext cx="118872" cy="118872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170432" y="4498848"/>
            <a:ext cx="198790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Evidence-backed scores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405226" y="4498848"/>
            <a:ext cx="2017166" cy="420624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569818" y="464515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752698" y="4498848"/>
            <a:ext cx="165140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Real OSM amenities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650992" y="4498848"/>
            <a:ext cx="1764792" cy="420624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815584" y="4645152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998464" y="4498848"/>
            <a:ext cx="139903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AI +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644384" y="4498848"/>
            <a:ext cx="2017166" cy="420624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7808976" y="4645152"/>
            <a:ext cx="118872" cy="1188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7991856" y="4498848"/>
            <a:ext cx="165140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Honest uncertainty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1"/>
          <p:cNvCxnSpPr/>
          <p:nvPr/>
        </p:nvCxnSpPr>
        <p:spPr>
          <a:xfrm>
            <a:off x="822960" y="5440680"/>
            <a:ext cx="10561320" cy="0"/>
          </a:xfrm>
          <a:prstGeom prst="straightConnector1">
            <a:avLst/>
          </a:prstGeom>
          <a:noFill/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1"/>
          <p:cNvSpPr/>
          <p:nvPr/>
        </p:nvSpPr>
        <p:spPr>
          <a:xfrm>
            <a:off x="822960" y="55961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B82E"/>
                </a:solidFill>
                <a:latin typeface="Calibri"/>
                <a:ea typeface="Calibri"/>
                <a:cs typeface="Calibri"/>
                <a:sym typeface="Calibri"/>
              </a:rPr>
              <a:t>Live demo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·  20 Abu Dhabi districts   ·   deterministic scoring + AI explanation   ·   real OpenStreetMap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© OpenStreetMap contributors (ODbL)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Planners decide where to act on instinct — not evidence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Abu Dhabi is growing fast. Deciding which district needs a school, a clinic, or better transit is a high-stakes call — yet it is often made from intuition, politics, or a single opaque dashboard number nobody can interrogate.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395728"/>
            <a:ext cx="3502152" cy="2331720"/>
          </a:xfrm>
          <a:prstGeom prst="roundRect">
            <a:avLst>
              <a:gd fmla="val 3922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841248" y="2706624"/>
            <a:ext cx="713232" cy="713232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424" y="2877800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841248" y="3566160"/>
            <a:ext cx="29352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Gut-feel prioritisation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41248" y="4059936"/>
            <a:ext cx="2935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Limited budgets get spread by who shouts loudest, not where need genuinely outpaces what is on the ground.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334256" y="2395728"/>
            <a:ext cx="3502152" cy="2331720"/>
          </a:xfrm>
          <a:prstGeom prst="roundRect">
            <a:avLst>
              <a:gd fmla="val 3922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626864" y="2706624"/>
            <a:ext cx="713232" cy="713232"/>
          </a:xfrm>
          <a:prstGeom prst="roundRect">
            <a:avLst>
              <a:gd fmla="val 26000" name="adj"/>
            </a:avLst>
          </a:prstGeom>
          <a:solidFill>
            <a:srgbClr val="A78B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8040" y="2877800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4626864" y="3566160"/>
            <a:ext cx="29352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Black-box AI scores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626864" y="4059936"/>
            <a:ext cx="2935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 model says "score: 82" with no reason. Planners can't defend it to leadership — so they don't trust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119872" y="2395728"/>
            <a:ext cx="3502152" cy="2331720"/>
          </a:xfrm>
          <a:prstGeom prst="roundRect">
            <a:avLst>
              <a:gd fmla="val 3922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412480" y="2706624"/>
            <a:ext cx="713232" cy="713232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3656" y="2877800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/>
          <p:nvPr/>
        </p:nvSpPr>
        <p:spPr>
          <a:xfrm>
            <a:off x="8412480" y="3566160"/>
            <a:ext cx="29352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sense of certainty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412480" y="4059936"/>
            <a:ext cx="29352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Every recommendation looks equally confident, even when the underlying signals flatly disagree.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fmla="val 9524" name="adj"/>
            </a:avLst>
          </a:prstGeom>
          <a:solidFill>
            <a:srgbClr val="211B0D"/>
          </a:solidFill>
          <a:ln cap="flat" cmpd="sng" w="12700">
            <a:solidFill>
              <a:srgbClr val="E0A52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41248" y="5285232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922" y="541690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1591056" y="5074920"/>
            <a:ext cx="9784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real question isn't "what's the score?" </a:t>
            </a:r>
            <a:r>
              <a:rPr b="0" i="0" lang="en-US" sz="14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It's "where does community need outpace real amenity coverage — and how sure can we be?"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WHAT WE BUILT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copilot that scores, explains, and tells you when to doubt it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1481328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 deterministic data pipeline ranks all 20 districts on community need vs. real amenity supply. An AI layer turns that structured evidence into plain language — and a confidence engine flags how much to trust each call.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2331720"/>
            <a:ext cx="2679192" cy="3611880"/>
          </a:xfrm>
          <a:prstGeom prst="roundRect">
            <a:avLst>
              <a:gd fmla="val 3413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822960" y="2624328"/>
            <a:ext cx="749808" cy="749808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914" y="280428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804672" y="353872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Evidence-backed scores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04672" y="4361688"/>
            <a:ext cx="222199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Every district gets decomposed 0–100 scores — need, shortage, market — computed in Python, never in the UI.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332988" y="2331720"/>
            <a:ext cx="2679192" cy="3611880"/>
          </a:xfrm>
          <a:prstGeom prst="roundRect">
            <a:avLst>
              <a:gd fmla="val 3413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607308" y="2624328"/>
            <a:ext cx="749808" cy="74980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7262" y="280428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3589020" y="353872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OSM amenities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589020" y="4361688"/>
            <a:ext cx="222199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Coverage benchmarked against 3,155 real OpenStreetMap amenities, category by category vs. city medians.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117336" y="2331720"/>
            <a:ext cx="2679192" cy="3611880"/>
          </a:xfrm>
          <a:prstGeom prst="roundRect">
            <a:avLst>
              <a:gd fmla="val 3413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391656" y="2624328"/>
            <a:ext cx="749808" cy="749808"/>
          </a:xfrm>
          <a:prstGeom prst="roundRect">
            <a:avLst>
              <a:gd fmla="val 26000" name="adj"/>
            </a:avLst>
          </a:prstGeom>
          <a:solidFill>
            <a:srgbClr val="A78B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1610" y="280428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6373368" y="353872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that explains, not invents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373368" y="4361688"/>
            <a:ext cx="222199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An LLM narrates the pipeline's evidence for planners. It cannot recalculate, re-rank, or fabricate a number.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901684" y="2331720"/>
            <a:ext cx="2679192" cy="3611880"/>
          </a:xfrm>
          <a:prstGeom prst="roundRect">
            <a:avLst>
              <a:gd fmla="val 3413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9176004" y="2624328"/>
            <a:ext cx="749808" cy="749808"/>
          </a:xfrm>
          <a:prstGeom prst="roundRect">
            <a:avLst>
              <a:gd fmla="val 26000" name="adj"/>
            </a:avLst>
          </a:prstGeom>
          <a:solidFill>
            <a:srgbClr val="60A5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5958" y="2804282"/>
            <a:ext cx="389900" cy="3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9157716" y="353872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Honest uncertainty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157716" y="4361688"/>
            <a:ext cx="222199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Confidence = how many independent signals agree. When they don't, the copilot says "validate before acting."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Deterministic core, AI on the surface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The pipeline owns every number. The AI and dashboard only display and explain what the data layer already decided — the design rule that keeps the system honest.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2240280"/>
            <a:ext cx="11091672" cy="1783080"/>
          </a:xfrm>
          <a:prstGeom prst="roundRect">
            <a:avLst>
              <a:gd fmla="val 512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77240" y="237744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DETERMINISTIC PYTHON PIPELINE  ·  same inputs always produce the same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77240" y="2743200"/>
            <a:ext cx="1572768" cy="1078992"/>
          </a:xfrm>
          <a:prstGeom prst="roundRect">
            <a:avLst>
              <a:gd fmla="val 8475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923544" y="2889504"/>
            <a:ext cx="384048" cy="38404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716" y="298167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1380744" y="287121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23544" y="3310128"/>
            <a:ext cx="1316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6 challenge CSVs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normalise + join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350008" y="2743200"/>
            <a:ext cx="23957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589581" y="2743200"/>
            <a:ext cx="1572768" cy="1078992"/>
          </a:xfrm>
          <a:prstGeom prst="roundRect">
            <a:avLst>
              <a:gd fmla="val 8475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2735885" y="2889504"/>
            <a:ext cx="384048" cy="38404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056" y="298167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3193085" y="287121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Aggregate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735885" y="3310128"/>
            <a:ext cx="1316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90 communities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20 districts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162349" y="2743200"/>
            <a:ext cx="23957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401922" y="2743200"/>
            <a:ext cx="1572768" cy="1078992"/>
          </a:xfrm>
          <a:prstGeom prst="roundRect">
            <a:avLst>
              <a:gd fmla="val 8475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548226" y="2889504"/>
            <a:ext cx="384048" cy="38404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0397" y="298167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5005426" y="287121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48226" y="3310128"/>
            <a:ext cx="1316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need · shortage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market · gap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974690" y="2743200"/>
            <a:ext cx="23957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214262" y="2743200"/>
            <a:ext cx="1572768" cy="1078992"/>
          </a:xfrm>
          <a:prstGeom prst="roundRect">
            <a:avLst>
              <a:gd fmla="val 8475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360566" y="2889504"/>
            <a:ext cx="384048" cy="38404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2738" y="298167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6817766" y="287121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360566" y="3310128"/>
            <a:ext cx="1316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8 signals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agreement 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787030" y="2743200"/>
            <a:ext cx="23957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026603" y="2743200"/>
            <a:ext cx="1572768" cy="1078992"/>
          </a:xfrm>
          <a:prstGeom prst="roundRect">
            <a:avLst>
              <a:gd fmla="val 8475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172907" y="2889504"/>
            <a:ext cx="384048" cy="38404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5079" y="298167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8630107" y="287121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172907" y="3310128"/>
            <a:ext cx="1316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bullets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interventions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599371" y="2743200"/>
            <a:ext cx="23957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838944" y="2743200"/>
            <a:ext cx="1572768" cy="1078992"/>
          </a:xfrm>
          <a:prstGeom prst="roundRect">
            <a:avLst>
              <a:gd fmla="val 8475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9985248" y="2889504"/>
            <a:ext cx="384048" cy="384048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7420" y="298167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4"/>
          <p:cNvSpPr/>
          <p:nvPr/>
        </p:nvSpPr>
        <p:spPr>
          <a:xfrm>
            <a:off x="10442448" y="2871216"/>
            <a:ext cx="9326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985248" y="3310128"/>
            <a:ext cx="1316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JSON contract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for frontend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943600" y="4069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48640" y="4407408"/>
            <a:ext cx="5449824" cy="1691640"/>
          </a:xfrm>
          <a:prstGeom prst="roundRect">
            <a:avLst>
              <a:gd fmla="val 5405" name="adj"/>
            </a:avLst>
          </a:prstGeom>
          <a:solidFill>
            <a:srgbClr val="0E2220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822960" y="4681728"/>
            <a:ext cx="603504" cy="603504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801" y="48265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1554480" y="4663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Copilot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822960" y="51206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Receives one structured district object and narrates it for decision-makers. Guardrailed: no new metrics, no re-ranking, no "live data" claims. Deterministic fallback if the model is unavailable.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190488" y="4407408"/>
            <a:ext cx="5449824" cy="1691640"/>
          </a:xfrm>
          <a:prstGeom prst="roundRect">
            <a:avLst>
              <a:gd fmla="val 5405" name="adj"/>
            </a:avLst>
          </a:prstGeom>
          <a:solidFill>
            <a:srgbClr val="211B0D"/>
          </a:solidFill>
          <a:ln cap="flat" cmpd="sng" w="12700">
            <a:solidFill>
              <a:srgbClr val="E0A52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464808" y="4681728"/>
            <a:ext cx="603504" cy="603504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9649" y="4826569"/>
            <a:ext cx="313822" cy="31382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7196328" y="46634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Next.js Dashboard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464808" y="51206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Reads the same JSON. Shows ranked districts, decomposed scores, evidence stack, OSM amenity breakdown, and the confidence badge — scores rendered, never recalculated in the browser.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DATA 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Grounded in ~15,000 rows of real Abu Dhabi data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Three core datasets drive the gap score; three supporting datasets add market and feasibility context. Every district-keyed file joins cleanly to the 20-district master — no orphan names, no casing mismatches.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48640" y="2286000"/>
            <a:ext cx="2679192" cy="1234440"/>
          </a:xfrm>
          <a:prstGeom prst="roundRect">
            <a:avLst>
              <a:gd fmla="val 7407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594360" y="2432304"/>
            <a:ext cx="2587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94360" y="3127248"/>
            <a:ext cx="2587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AA6BC"/>
                </a:solidFill>
                <a:latin typeface="Arial"/>
                <a:ea typeface="Arial"/>
                <a:cs typeface="Arial"/>
                <a:sym typeface="Arial"/>
              </a:rPr>
              <a:t>DISTRICTS RANKED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337560" y="2286000"/>
            <a:ext cx="2679192" cy="1234440"/>
          </a:xfrm>
          <a:prstGeom prst="roundRect">
            <a:avLst>
              <a:gd fmla="val 7407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383280" y="2432304"/>
            <a:ext cx="2587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3,155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383280" y="3127248"/>
            <a:ext cx="2587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AA6BC"/>
                </a:solidFill>
                <a:latin typeface="Arial"/>
                <a:ea typeface="Arial"/>
                <a:cs typeface="Arial"/>
                <a:sym typeface="Arial"/>
              </a:rPr>
              <a:t>OSM AMENITIES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126480" y="2286000"/>
            <a:ext cx="2679192" cy="1234440"/>
          </a:xfrm>
          <a:prstGeom prst="roundRect">
            <a:avLst>
              <a:gd fmla="val 7407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172200" y="2432304"/>
            <a:ext cx="2587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172200" y="3127248"/>
            <a:ext cx="2587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AA6BC"/>
                </a:solidFill>
                <a:latin typeface="Arial"/>
                <a:ea typeface="Arial"/>
                <a:cs typeface="Arial"/>
                <a:sym typeface="Arial"/>
              </a:rPr>
              <a:t>COMMUNITY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915400" y="2286000"/>
            <a:ext cx="2679192" cy="1234440"/>
          </a:xfrm>
          <a:prstGeom prst="roundRect">
            <a:avLst>
              <a:gd fmla="val 7407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961120" y="2432304"/>
            <a:ext cx="25877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15K+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8961120" y="3127248"/>
            <a:ext cx="2587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AA6BC"/>
                </a:solidFill>
                <a:latin typeface="Arial"/>
                <a:ea typeface="Arial"/>
                <a:cs typeface="Arial"/>
                <a:sym typeface="Arial"/>
              </a:rPr>
              <a:t>SUPPORTING ROWS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48640" y="3822192"/>
            <a:ext cx="5449824" cy="2212848"/>
          </a:xfrm>
          <a:prstGeom prst="roundRect">
            <a:avLst>
              <a:gd fmla="val 4132" name="adj"/>
            </a:avLst>
          </a:prstGeom>
          <a:solidFill>
            <a:srgbClr val="0E2220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822960" y="40233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CORE  ·  drives the gap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22960" y="438912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Communities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demand, mobility, resident experience, population</a:t>
            </a:r>
            <a:b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Districts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metadata, infrastructure score, map centroids</a:t>
            </a:r>
            <a:b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OSM amenities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real coverage across 6 categories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190488" y="3822192"/>
            <a:ext cx="5449824" cy="2212848"/>
          </a:xfrm>
          <a:prstGeom prst="roundRect">
            <a:avLst>
              <a:gd fmla="val 4132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464808" y="40233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SUPPORTING  ·  context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464808" y="438912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Listings (6,000)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residential market activity</a:t>
            </a:r>
            <a:b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Transactions (5,000)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market pressure signal</a:t>
            </a:r>
            <a:b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Parcels (600)  </a:t>
            </a:r>
            <a: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intervention feasibility</a:t>
            </a:r>
            <a:br>
              <a:rPr b="0" i="0" lang="en-US" sz="13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Investors (200)  </a:t>
            </a:r>
            <a:r>
              <a:rPr b="0" i="0" lang="en-US" sz="13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held out — not in scoring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SCORING 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question, decomposed into scores you can audit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8640" y="1426464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Where does community need outpace real amenity coverage? The composite gap score is a transparent weighted blend — need and shortage are 90% of it, so the rank can never be quietly driven by market hype.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48640" y="2286000"/>
            <a:ext cx="5806440" cy="3749040"/>
          </a:xfrm>
          <a:prstGeom prst="roundRect">
            <a:avLst>
              <a:gd fmla="val 2439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822960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COMMUNITY GAP SCORE  =  weighted blend (0–100)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22960" y="29626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Community need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46320" y="2962656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822960" y="3273552"/>
            <a:ext cx="5074920" cy="237744"/>
          </a:xfrm>
          <a:prstGeom prst="roundRect">
            <a:avLst>
              <a:gd fmla="val 50000" name="adj"/>
            </a:avLst>
          </a:prstGeom>
          <a:solidFill>
            <a:srgbClr val="222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822960" y="3273552"/>
            <a:ext cx="2791206" cy="237744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822960" y="3675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Amenity shortage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846320" y="36758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22960" y="3986784"/>
            <a:ext cx="5074920" cy="237744"/>
          </a:xfrm>
          <a:prstGeom prst="roundRect">
            <a:avLst>
              <a:gd fmla="val 50000" name="adj"/>
            </a:avLst>
          </a:prstGeom>
          <a:solidFill>
            <a:srgbClr val="222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822960" y="3986784"/>
            <a:ext cx="1776222" cy="237744"/>
          </a:xfrm>
          <a:prstGeom prst="roundRect">
            <a:avLst>
              <a:gd fmla="val 50000" name="adj"/>
            </a:avLst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822960" y="43891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Market pressure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846320" y="438912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822960" y="4700016"/>
            <a:ext cx="5074920" cy="237744"/>
          </a:xfrm>
          <a:prstGeom prst="roundRect">
            <a:avLst>
              <a:gd fmla="val 50000" name="adj"/>
            </a:avLst>
          </a:prstGeom>
          <a:solidFill>
            <a:srgbClr val="222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822960" y="4700016"/>
            <a:ext cx="507492" cy="237744"/>
          </a:xfrm>
          <a:prstGeom prst="roundRect">
            <a:avLst>
              <a:gd fmla="val 50000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6"/>
          <p:cNvCxnSpPr/>
          <p:nvPr/>
        </p:nvCxnSpPr>
        <p:spPr>
          <a:xfrm>
            <a:off x="822960" y="5248656"/>
            <a:ext cx="5074920" cy="0"/>
          </a:xfrm>
          <a:prstGeom prst="straightConnector1">
            <a:avLst/>
          </a:prstGeom>
          <a:noFill/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6"/>
          <p:cNvSpPr/>
          <p:nvPr/>
        </p:nvSpPr>
        <p:spPr>
          <a:xfrm>
            <a:off x="822960" y="5394960"/>
            <a:ext cx="5212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Need + Shortage = 90%  </a:t>
            </a: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Feasibility is reported alongside the rank — pairing </a:t>
            </a:r>
            <a:r>
              <a:rPr b="0" i="1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 to act with </a:t>
            </a:r>
            <a:r>
              <a:rPr b="0" i="1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whether</a:t>
            </a: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 delivery is practical.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556248" y="2286000"/>
            <a:ext cx="5084064" cy="3749040"/>
          </a:xfrm>
          <a:prstGeom prst="roundRect">
            <a:avLst>
              <a:gd fmla="val 2439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830568" y="24871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WHAT FEEDS EACH SCORE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830568" y="2990088"/>
            <a:ext cx="146304" cy="146304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7059168" y="28986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059168" y="3191256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demand 40% · weak mobility 20% · weak experience 20% · population + occupancy 20%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830568" y="3959352"/>
            <a:ext cx="146304" cy="146304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7059168" y="386791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Shortage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7059168" y="4160520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100 − amenity adequacy; coverage vs city median, weighted by category (education &amp; healthcare highest)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7059168" y="483717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059168" y="5129784"/>
            <a:ext cx="43708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listing volume, availability, transactions — percentile-normalised across districts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830568" y="56509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Bands:  </a:t>
            </a: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High 75–100   ·   Medium 50–74   ·   Low &lt; 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THE DIFFERENTIATOR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Confidence is signal agreement — not a softmax guess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48640" y="1426464"/>
            <a:ext cx="11064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Most AI tools attach a fake-precise probability to every output. We count how many independent evidence signals actually agree that a district has a gap. It's interpretable, defensible, and refuses to fake certainty.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48640" y="2286000"/>
            <a:ext cx="6446520" cy="3749040"/>
          </a:xfrm>
          <a:prstGeom prst="roundRect">
            <a:avLst>
              <a:gd fmla="val 2439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822960" y="24688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8 INDEPENDENT SIGNALS  ·  each fires vs. the city median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22960" y="2889504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969264" y="3081528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969264" y="308152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243584" y="2889504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High service demand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895344" y="2889504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041648" y="3081528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041648" y="308152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315968" y="2889504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Weak mobility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22960" y="3566160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969264" y="3758184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969264" y="375818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243584" y="3566160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Weak resident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895344" y="3566160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041648" y="3758184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041648" y="375818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315968" y="3566160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Low education amenities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822960" y="4242816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969264" y="443484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969264" y="44348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243584" y="4242816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Low healthcare amenities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895344" y="4242816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041648" y="443484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041648" y="44348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315968" y="4242816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Low mobility amenities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822960" y="4919472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969264" y="5111496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969264" y="511149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243584" y="4919472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High market pressure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895344" y="4919472"/>
            <a:ext cx="2907792" cy="566928"/>
          </a:xfrm>
          <a:prstGeom prst="roundRect">
            <a:avLst>
              <a:gd fmla="val 12903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041648" y="5111496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4041648" y="511149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315968" y="4919472"/>
            <a:ext cx="23957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Need &amp; shortage agree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7150608" y="2286000"/>
            <a:ext cx="4489704" cy="3749040"/>
          </a:xfrm>
          <a:prstGeom prst="roundRect">
            <a:avLst>
              <a:gd fmla="val 2439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7424928" y="24688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AGREEMENT  →  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7424928" y="2907792"/>
            <a:ext cx="3941064" cy="603504"/>
          </a:xfrm>
          <a:prstGeom prst="roundRect">
            <a:avLst>
              <a:gd fmla="val 13636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7589520" y="2962656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6–8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8522208" y="296265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signals agree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0012680" y="3054096"/>
            <a:ext cx="1207008" cy="310896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10012680" y="3054096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424928" y="3621024"/>
            <a:ext cx="3941064" cy="603504"/>
          </a:xfrm>
          <a:prstGeom prst="roundRect">
            <a:avLst>
              <a:gd fmla="val 13636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7589520" y="367588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3–5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8522208" y="367588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signals agree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10012680" y="3767328"/>
            <a:ext cx="1207008" cy="310896"/>
          </a:xfrm>
          <a:prstGeom prst="roundRect">
            <a:avLst>
              <a:gd fmla="val 50000" name="adj"/>
            </a:avLst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10012680" y="3767328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7424928" y="4334256"/>
            <a:ext cx="3941064" cy="603504"/>
          </a:xfrm>
          <a:prstGeom prst="roundRect">
            <a:avLst>
              <a:gd fmla="val 13636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7589520" y="4389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0–2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8522208" y="43891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signals agree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10012680" y="4480560"/>
            <a:ext cx="1207008" cy="310896"/>
          </a:xfrm>
          <a:prstGeom prst="roundRect">
            <a:avLst>
              <a:gd fmla="val 50000" name="adj"/>
            </a:avLst>
          </a:prstGeom>
          <a:solidFill>
            <a:srgbClr val="EF7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10012680" y="4480560"/>
            <a:ext cx="12070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7424928" y="5138928"/>
            <a:ext cx="3941064" cy="749808"/>
          </a:xfrm>
          <a:prstGeom prst="roundRect">
            <a:avLst>
              <a:gd fmla="val 10976" name="adj"/>
            </a:avLst>
          </a:prstGeom>
          <a:solidFill>
            <a:srgbClr val="211B0D"/>
          </a:solidFill>
          <a:ln cap="flat" cmpd="sng" w="12700">
            <a:solidFill>
              <a:srgbClr val="E0A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7571232" y="5285232"/>
            <a:ext cx="457200" cy="457200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53949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"/>
          <p:cNvSpPr/>
          <p:nvPr/>
        </p:nvSpPr>
        <p:spPr>
          <a:xfrm>
            <a:off x="8138160" y="5138928"/>
            <a:ext cx="312724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Completeness guardrail  </a:t>
            </a:r>
            <a:r>
              <a:rPr b="0" i="0" lang="en-US" sz="105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sparse data is capped at Medium — thin data never reads as certainty.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AI 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AI explains the evidence — it never invents 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The LLM receives one structured district object and returns plain-language guidance as strict JSON. The numbers and classifications in that object are the single source of truth.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48640" y="2286000"/>
            <a:ext cx="5806440" cy="3749040"/>
          </a:xfrm>
          <a:prstGeom prst="roundRect">
            <a:avLst>
              <a:gd fmla="val 2439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822960" y="248716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SYSTEM PROMPT — HARD RULES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822960" y="2926080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3000695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/>
          <p:nvPr/>
        </p:nvSpPr>
        <p:spPr>
          <a:xfrm>
            <a:off x="1243584" y="29077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Use only the structured evidence provided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22960" y="3355848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3430463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/>
          <p:nvPr/>
        </p:nvSpPr>
        <p:spPr>
          <a:xfrm>
            <a:off x="1243584" y="33375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Do not invent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822960" y="3785616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3860231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"/>
          <p:cNvSpPr/>
          <p:nvPr/>
        </p:nvSpPr>
        <p:spPr>
          <a:xfrm>
            <a:off x="1243584" y="3767328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Do not calculate new scores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822960" y="4215384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4289999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8"/>
          <p:cNvSpPr/>
          <p:nvPr/>
        </p:nvSpPr>
        <p:spPr>
          <a:xfrm>
            <a:off x="1243584" y="4197096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Do not change confidence levels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822960" y="4645152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4719767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8"/>
          <p:cNvSpPr/>
          <p:nvPr/>
        </p:nvSpPr>
        <p:spPr>
          <a:xfrm>
            <a:off x="1243584" y="462686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Do not claim live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822960" y="5074920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5149535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8"/>
          <p:cNvSpPr/>
          <p:nvPr/>
        </p:nvSpPr>
        <p:spPr>
          <a:xfrm>
            <a:off x="1243584" y="505663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If evidence is mixed, say so clearly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822960" y="5504688"/>
            <a:ext cx="310896" cy="310896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575" y="5579303"/>
            <a:ext cx="161666" cy="1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8"/>
          <p:cNvSpPr/>
          <p:nvPr/>
        </p:nvSpPr>
        <p:spPr>
          <a:xfrm>
            <a:off x="1243584" y="54864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Return valid JSON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556248" y="2286000"/>
            <a:ext cx="5084064" cy="1783080"/>
          </a:xfrm>
          <a:prstGeom prst="roundRect">
            <a:avLst>
              <a:gd fmla="val 5128" name="adj"/>
            </a:avLst>
          </a:prstGeom>
          <a:solidFill>
            <a:srgbClr val="1A2233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830568" y="24323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STRUCTURED JSON CONTRACT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6830568" y="276148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ourier New"/>
                <a:ea typeface="Courier New"/>
                <a:cs typeface="Courier New"/>
                <a:sym typeface="Courier New"/>
              </a:rPr>
              <a:t>district_summary · main_gap · recommended_intervention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E9EDF6"/>
                </a:solidFill>
                <a:latin typeface="Courier New"/>
                <a:ea typeface="Courier New"/>
                <a:cs typeface="Courier New"/>
                <a:sym typeface="Courier New"/>
              </a:rPr>
              <a:t>why_this_matters · confidence_note · uncertainty_note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6830568" y="34564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Six required keys, validated on the way out — anything else is rejected.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556248" y="4251960"/>
            <a:ext cx="5084064" cy="1783080"/>
          </a:xfrm>
          <a:prstGeom prst="roundRect">
            <a:avLst>
              <a:gd fmla="val 5128" name="adj"/>
            </a:avLst>
          </a:prstGeom>
          <a:solidFill>
            <a:srgbClr val="0E2220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6830568" y="4498848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2242" y="46305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8"/>
          <p:cNvSpPr/>
          <p:nvPr/>
        </p:nvSpPr>
        <p:spPr>
          <a:xfrm>
            <a:off x="7543800" y="44805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Deterministic fallback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830568" y="4956048"/>
            <a:ext cx="4572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If the model key is missing or the call fails, a pure-Python fallback builds the same six fields straight from the pipeline evidence. The demo always runs — and never fabricates a number, even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48640" y="84124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20 districts, ranked by community gap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48640" y="1444752"/>
            <a:ext cx="6766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Al Ghadeer rises to the top: elevated need meeting the weakest amenity coverage in the set. Most districts land Low — the copilot deliberately does not over-flag.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9"/>
          <p:cNvGraphicFramePr/>
          <p:nvPr/>
        </p:nvGraphicFramePr>
        <p:xfrm>
          <a:off x="502920" y="2331720"/>
          <a:ext cx="6995160" cy="37033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58" name="Google Shape;358;p9"/>
          <p:cNvSpPr/>
          <p:nvPr/>
        </p:nvSpPr>
        <p:spPr>
          <a:xfrm>
            <a:off x="7818120" y="2286000"/>
            <a:ext cx="3822192" cy="1755648"/>
          </a:xfrm>
          <a:prstGeom prst="roundRect">
            <a:avLst>
              <a:gd fmla="val 5208" name="adj"/>
            </a:avLst>
          </a:prstGeom>
          <a:solidFill>
            <a:srgbClr val="211B0D"/>
          </a:solidFill>
          <a:ln cap="flat" cmpd="sng" w="12700">
            <a:solidFill>
              <a:srgbClr val="E0A52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8074152" y="2505456"/>
            <a:ext cx="1325880" cy="329184"/>
          </a:xfrm>
          <a:prstGeom prst="roundRect">
            <a:avLst>
              <a:gd fmla="val 50000" name="adj"/>
            </a:avLst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8074152" y="2505456"/>
            <a:ext cx="1325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#1 PRIORITY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8074152" y="29077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Ghadeer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8074152" y="3310128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B82E"/>
                </a:solidFill>
                <a:latin typeface="Calibri"/>
                <a:ea typeface="Calibri"/>
                <a:cs typeface="Calibri"/>
                <a:sym typeface="Calibri"/>
              </a:rPr>
              <a:t>Gap 70  ·  High confidence</a:t>
            </a:r>
            <a:br>
              <a:rPr b="1" i="0" lang="en-US" sz="1200" u="none" cap="none" strike="noStrike">
                <a:solidFill>
                  <a:srgbClr val="F5B8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Education capacity — 0 OSM schools vs. city median of 10.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7818120" y="4224528"/>
            <a:ext cx="3822192" cy="1810512"/>
          </a:xfrm>
          <a:prstGeom prst="roundRect">
            <a:avLst>
              <a:gd fmla="val 5051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8074152" y="43891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HOW THE SET BREAKS 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8074152" y="47548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8732520" y="482803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Medium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9829800" y="475488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10488168" y="482803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Low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8074152" y="53949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8732520" y="54681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High 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9829800" y="539496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0488168" y="546811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Low 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DEMO WALKTHROUGH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districts that show the whole story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Act, validate, or hold — the same engine produces all three, which is exactly why decision-makers can trust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48640" y="2148840"/>
            <a:ext cx="3584448" cy="3886200"/>
          </a:xfrm>
          <a:prstGeom prst="roundRect">
            <a:avLst>
              <a:gd fmla="val 2551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822960" y="2423160"/>
            <a:ext cx="1280160" cy="365760"/>
          </a:xfrm>
          <a:prstGeom prst="roundRect">
            <a:avLst>
              <a:gd fmla="val 50000" name="adj"/>
            </a:avLst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822960" y="24231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822960" y="2935224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Ghadeer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22960" y="3392424"/>
            <a:ext cx="3035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5B82E"/>
                </a:solidFill>
                <a:latin typeface="Calibri"/>
                <a:ea typeface="Calibri"/>
                <a:cs typeface="Calibri"/>
                <a:sym typeface="Calibri"/>
              </a:rPr>
              <a:t>Gap 70 · High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10"/>
          <p:cNvCxnSpPr/>
          <p:nvPr/>
        </p:nvCxnSpPr>
        <p:spPr>
          <a:xfrm>
            <a:off x="822960" y="3813048"/>
            <a:ext cx="3035808" cy="0"/>
          </a:xfrm>
          <a:prstGeom prst="straightConnector1">
            <a:avLst/>
          </a:prstGeom>
          <a:noFill/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10"/>
          <p:cNvSpPr/>
          <p:nvPr/>
        </p:nvSpPr>
        <p:spPr>
          <a:xfrm>
            <a:off x="822960" y="3941064"/>
            <a:ext cx="3035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822960" y="4142232"/>
            <a:ext cx="303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822960" y="4636008"/>
            <a:ext cx="30358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Clear, OSM-backed evidence and a concrete recommendation: education capacity. Need, shortage, evidence and confidence all line 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315968" y="2148840"/>
            <a:ext cx="3584448" cy="3886200"/>
          </a:xfrm>
          <a:prstGeom prst="roundRect">
            <a:avLst>
              <a:gd fmla="val 2551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4590288" y="2423160"/>
            <a:ext cx="1280160" cy="365760"/>
          </a:xfrm>
          <a:prstGeom prst="roundRect">
            <a:avLst>
              <a:gd fmla="val 50000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4590288" y="24231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MIXED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590288" y="2935224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Raha Beach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590288" y="3392424"/>
            <a:ext cx="3035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Gap 53 · Medium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0"/>
          <p:cNvCxnSpPr/>
          <p:nvPr/>
        </p:nvCxnSpPr>
        <p:spPr>
          <a:xfrm>
            <a:off x="4590288" y="3813048"/>
            <a:ext cx="3035808" cy="0"/>
          </a:xfrm>
          <a:prstGeom prst="straightConnector1">
            <a:avLst/>
          </a:prstGeom>
          <a:noFill/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0"/>
          <p:cNvSpPr/>
          <p:nvPr/>
        </p:nvSpPr>
        <p:spPr>
          <a:xfrm>
            <a:off x="4590288" y="3941064"/>
            <a:ext cx="3035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590288" y="4142232"/>
            <a:ext cx="303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590288" y="4636008"/>
            <a:ext cx="30358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Education &amp; healthcare look thin, but signals don't fully agree. The copilot says validate before acting — honest uncertainty in action.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8083296" y="2148840"/>
            <a:ext cx="3584448" cy="3886200"/>
          </a:xfrm>
          <a:prstGeom prst="roundRect">
            <a:avLst>
              <a:gd fmla="val 2551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8357616" y="2423160"/>
            <a:ext cx="1280160" cy="365760"/>
          </a:xfrm>
          <a:prstGeom prst="roundRect">
            <a:avLst>
              <a:gd fmla="val 50000" name="adj"/>
            </a:avLst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8357616" y="242316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1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E17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8357616" y="2935224"/>
            <a:ext cx="3035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Khalidiyah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8357616" y="3392424"/>
            <a:ext cx="3035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Gap 29 · Low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0"/>
          <p:cNvCxnSpPr/>
          <p:nvPr/>
        </p:nvCxnSpPr>
        <p:spPr>
          <a:xfrm>
            <a:off x="8357616" y="3813048"/>
            <a:ext cx="3035808" cy="0"/>
          </a:xfrm>
          <a:prstGeom prst="straightConnector1">
            <a:avLst/>
          </a:prstGeom>
          <a:noFill/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10"/>
          <p:cNvSpPr/>
          <p:nvPr/>
        </p:nvSpPr>
        <p:spPr>
          <a:xfrm>
            <a:off x="8357616" y="3941064"/>
            <a:ext cx="30358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A7488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8357616" y="4142232"/>
            <a:ext cx="3035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8357616" y="4636008"/>
            <a:ext cx="303580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275 amenities, strong resident experience. 0 of 8 signals support intervention — the system declines to over-flag a healthy district.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WHY IT'S DIFFERENT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to be transparent about its limits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548640" y="1444752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We would rather show "medium confidence, mixed evidence" than pretend certainty the data doesn't support. That honesty is the product.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548640" y="2148840"/>
            <a:ext cx="3584448" cy="1755648"/>
          </a:xfrm>
          <a:prstGeom prst="roundRect">
            <a:avLst>
              <a:gd fmla="val 520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804672" y="2404872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6" name="Google Shape;4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346" y="253654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1"/>
          <p:cNvSpPr/>
          <p:nvPr/>
        </p:nvSpPr>
        <p:spPr>
          <a:xfrm>
            <a:off x="1499616" y="2404872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Decomposed scores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804672" y="3063240"/>
            <a:ext cx="3072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Need, shortage, market and feasibility are shown separately — never collapsed into one opaque number.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315968" y="2148840"/>
            <a:ext cx="3584448" cy="1755648"/>
          </a:xfrm>
          <a:prstGeom prst="roundRect">
            <a:avLst>
              <a:gd fmla="val 520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4572000" y="2404872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674" y="253654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/>
          <p:nvPr/>
        </p:nvSpPr>
        <p:spPr>
          <a:xfrm>
            <a:off x="5266944" y="2404872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bullets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572000" y="3063240"/>
            <a:ext cx="3072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Every flag ties back to a measurable comparison — district value vs. city median, in plain language.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8083296" y="2148840"/>
            <a:ext cx="3584448" cy="1755648"/>
          </a:xfrm>
          <a:prstGeom prst="roundRect">
            <a:avLst>
              <a:gd fmla="val 520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8339328" y="2404872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A78B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6" name="Google Shape;43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1002" y="253654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1"/>
          <p:cNvSpPr/>
          <p:nvPr/>
        </p:nvSpPr>
        <p:spPr>
          <a:xfrm>
            <a:off x="9034272" y="2404872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Explicit uncertainty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8339328" y="3063240"/>
            <a:ext cx="3072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When signals genuinely disagree, confidence drops and the copilot names it. No false precision.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48640" y="4105656"/>
            <a:ext cx="3584448" cy="1755648"/>
          </a:xfrm>
          <a:prstGeom prst="roundRect">
            <a:avLst>
              <a:gd fmla="val 520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804672" y="4361688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60A5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346" y="449336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1"/>
          <p:cNvSpPr/>
          <p:nvPr/>
        </p:nvSpPr>
        <p:spPr>
          <a:xfrm>
            <a:off x="1499616" y="4361688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Completeness check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804672" y="5020056"/>
            <a:ext cx="3072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Districts with sparse core data are structurally barred from receiving High confidence.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4315968" y="4105656"/>
            <a:ext cx="3584448" cy="1755648"/>
          </a:xfrm>
          <a:prstGeom prst="roundRect">
            <a:avLst>
              <a:gd fmla="val 520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4572000" y="4361688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14B8A6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3674" y="449336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1"/>
          <p:cNvSpPr/>
          <p:nvPr/>
        </p:nvSpPr>
        <p:spPr>
          <a:xfrm>
            <a:off x="5266944" y="4361688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Supporting vs. core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4572000" y="5020056"/>
            <a:ext cx="3072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Listings and parcels inform context only — they can't hijack the need-vs-coverage story.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8083296" y="4105656"/>
            <a:ext cx="3584448" cy="1755648"/>
          </a:xfrm>
          <a:prstGeom prst="roundRect">
            <a:avLst>
              <a:gd fmla="val 5208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8339328" y="4361688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E0A526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1002" y="449336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1"/>
          <p:cNvSpPr/>
          <p:nvPr/>
        </p:nvSpPr>
        <p:spPr>
          <a:xfrm>
            <a:off x="9034272" y="4361688"/>
            <a:ext cx="23957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 source of truth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8339328" y="5020056"/>
            <a:ext cx="307238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Pipeline computes, UI and LLM display. The number you see is the number that was scored.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Community Gap &amp; Confidence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6126480" y="64373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A7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· Future Communities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11475720" y="64008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48640" y="589788"/>
            <a:ext cx="91440" cy="91440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713232" y="521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WHAT'S 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hackathon prototype to the planning intelligence layer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48640" y="144475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The contract is already clean: swap static CSVs for live feeds and the same deterministic-core, AI-on-top architecture scales without losing its honesty.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548640" y="2240280"/>
            <a:ext cx="2679192" cy="2514600"/>
          </a:xfrm>
          <a:prstGeom prst="roundRect">
            <a:avLst>
              <a:gd fmla="val 3636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822960" y="2532888"/>
            <a:ext cx="658368" cy="658368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968" y="269089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2"/>
          <p:cNvSpPr/>
          <p:nvPr/>
        </p:nvSpPr>
        <p:spPr>
          <a:xfrm>
            <a:off x="804672" y="3319272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data feeds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804672" y="390448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Replace sample CSVs with live OSM, permits and mobility data — refresh scores continuously instead of a static snapshot.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3337560" y="2240280"/>
            <a:ext cx="2679192" cy="2514600"/>
          </a:xfrm>
          <a:prstGeom prst="roundRect">
            <a:avLst>
              <a:gd fmla="val 3636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3611880" y="2532888"/>
            <a:ext cx="658368" cy="658368"/>
          </a:xfrm>
          <a:prstGeom prst="roundRect">
            <a:avLst>
              <a:gd fmla="val 26000" name="adj"/>
            </a:avLst>
          </a:prstGeom>
          <a:solidFill>
            <a:srgbClr val="F5B8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9888" y="269089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2"/>
          <p:cNvSpPr/>
          <p:nvPr/>
        </p:nvSpPr>
        <p:spPr>
          <a:xfrm>
            <a:off x="3593592" y="3319272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Map-first interface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3593592" y="390448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Plot gaps and confidence across the city so leadership sees priority at a glance, then drills into the evidence.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6126480" y="2240280"/>
            <a:ext cx="2679192" cy="2514600"/>
          </a:xfrm>
          <a:prstGeom prst="roundRect">
            <a:avLst>
              <a:gd fmla="val 3636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6400800" y="2532888"/>
            <a:ext cx="658368" cy="658368"/>
          </a:xfrm>
          <a:prstGeom prst="roundRect">
            <a:avLst>
              <a:gd fmla="val 26000" name="adj"/>
            </a:avLst>
          </a:prstGeom>
          <a:solidFill>
            <a:srgbClr val="A78B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8808" y="269089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2"/>
          <p:cNvSpPr/>
          <p:nvPr/>
        </p:nvSpPr>
        <p:spPr>
          <a:xfrm>
            <a:off x="6382512" y="3319272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tracks &amp; emirates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6382512" y="390448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The need-vs-supply engine generalises to land, investment and other emirates with the same guardrails.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8915400" y="2240280"/>
            <a:ext cx="2679192" cy="2514600"/>
          </a:xfrm>
          <a:prstGeom prst="roundRect">
            <a:avLst>
              <a:gd fmla="val 3636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9189720" y="2532888"/>
            <a:ext cx="658368" cy="658368"/>
          </a:xfrm>
          <a:prstGeom prst="roundRect">
            <a:avLst>
              <a:gd fmla="val 26000" name="adj"/>
            </a:avLst>
          </a:prstGeom>
          <a:solidFill>
            <a:srgbClr val="60A5FA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7728" y="2690896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/>
          <p:nvPr/>
        </p:nvSpPr>
        <p:spPr>
          <a:xfrm>
            <a:off x="9171432" y="3319272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audit trail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9171432" y="3904488"/>
            <a:ext cx="22219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Log every recommendation, its evidence and its confidence — defensible, reviewable public-sector decisions.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fmla="val 9524" name="adj"/>
            </a:avLst>
          </a:prstGeom>
          <a:solidFill>
            <a:srgbClr val="0E2220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841248" y="5285232"/>
            <a:ext cx="548640" cy="548640"/>
          </a:xfrm>
          <a:prstGeom prst="roundRect">
            <a:avLst>
              <a:gd fmla="val 26000" name="adj"/>
            </a:avLst>
          </a:prstGeom>
          <a:solidFill>
            <a:srgbClr val="2DD4BF"/>
          </a:solidFill>
          <a:ln>
            <a:noFill/>
          </a:ln>
          <a:effectLst>
            <a:outerShdw blurRad="101600" rotWithShape="0" algn="bl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922" y="541690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2"/>
          <p:cNvSpPr/>
          <p:nvPr/>
        </p:nvSpPr>
        <p:spPr>
          <a:xfrm>
            <a:off x="1591056" y="5074920"/>
            <a:ext cx="9784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With real data, this becomes the layer that tells Abu Dhabi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to build, why, and how confident to be</a:t>
            </a:r>
            <a:r>
              <a:rPr b="0" i="0" lang="en-US" sz="15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 — every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7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/>
          <p:nvPr/>
        </p:nvSpPr>
        <p:spPr>
          <a:xfrm>
            <a:off x="7863840" y="-1645920"/>
            <a:ext cx="6400800" cy="6400800"/>
          </a:xfrm>
          <a:prstGeom prst="ellipse">
            <a:avLst/>
          </a:prstGeom>
          <a:solidFill>
            <a:srgbClr val="1A1606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-2194560" y="3291840"/>
            <a:ext cx="5943600" cy="5943600"/>
          </a:xfrm>
          <a:prstGeom prst="ellipse">
            <a:avLst/>
          </a:prstGeom>
          <a:solidFill>
            <a:srgbClr val="06201E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777240" y="182880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Community Gap &amp;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777240" y="2615184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82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5B82E"/>
                </a:solidFill>
                <a:latin typeface="Arial"/>
                <a:ea typeface="Arial"/>
                <a:cs typeface="Arial"/>
                <a:sym typeface="Arial"/>
              </a:rPr>
              <a:t>Confidence Copilot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Evidence-backed scores. Real amenities. AI that explains, not invents. And the honesty to say when it isn't sure.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822960" y="4526280"/>
            <a:ext cx="2251253" cy="457200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1024128" y="4690872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1225296" y="4526280"/>
            <a:ext cx="17940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20 districts ranked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3302813" y="4526280"/>
            <a:ext cx="2251253" cy="457200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3503981" y="4690872"/>
            <a:ext cx="128016" cy="128016"/>
          </a:xfrm>
          <a:prstGeom prst="ellipse">
            <a:avLst/>
          </a:prstGeom>
          <a:solidFill>
            <a:srgbClr val="F5B8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3705149" y="4526280"/>
            <a:ext cx="17940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3,155 OSM amenities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5782666" y="4526280"/>
            <a:ext cx="2699309" cy="457200"/>
          </a:xfrm>
          <a:prstGeom prst="roundRect">
            <a:avLst>
              <a:gd fmla="val 50000" name="adj"/>
            </a:avLst>
          </a:prstGeom>
          <a:solidFill>
            <a:srgbClr val="151B29"/>
          </a:solidFill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5983834" y="4690872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6185002" y="4526280"/>
            <a:ext cx="22421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EDF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EDF6"/>
                </a:solidFill>
                <a:latin typeface="Calibri"/>
                <a:ea typeface="Calibri"/>
                <a:cs typeface="Calibri"/>
                <a:sym typeface="Calibri"/>
              </a:rPr>
              <a:t>Confidence you can audit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3"/>
          <p:cNvCxnSpPr/>
          <p:nvPr/>
        </p:nvCxnSpPr>
        <p:spPr>
          <a:xfrm>
            <a:off x="822960" y="5577840"/>
            <a:ext cx="10561320" cy="0"/>
          </a:xfrm>
          <a:prstGeom prst="straightConnector1">
            <a:avLst/>
          </a:prstGeom>
          <a:noFill/>
          <a:ln cap="flat" cmpd="sng" w="12700">
            <a:solidFill>
              <a:srgbClr val="2630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13"/>
          <p:cNvSpPr/>
          <p:nvPr/>
        </p:nvSpPr>
        <p:spPr>
          <a:xfrm>
            <a:off x="822960" y="57424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AA6B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  <a:t>Abu Dhabi AI PropTech Challenge  ·  Future Communities track</a:t>
            </a:r>
            <a:br>
              <a:rPr b="0" i="0" lang="en-US" sz="1200" u="none" cap="none" strike="noStrike">
                <a:solidFill>
                  <a:srgbClr val="9AA6B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A7488"/>
                </a:solidFill>
                <a:latin typeface="Calibri"/>
                <a:ea typeface="Calibri"/>
                <a:cs typeface="Calibri"/>
                <a:sym typeface="Calibri"/>
              </a:rPr>
              <a:t>Built with Cursor  ·  © OpenStreetMap contributors (ODbL)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2026-06-26T12:56:14Z</dcterms:created>
  <dc:creator>Arsh</dc:creator>
</cp:coreProperties>
</file>